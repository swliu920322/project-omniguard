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Kinematic-Token Theorem: A Multi-Agent Cloud-Edge</a:t>
            </a:r>
            <a:br/>
            <a:r>
              <a:t>Safety Orchestrator for Embodied AI Fleets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A9A"/>
                </a:solidFill>
                <a:latin typeface="Calibri"/>
              </a:defRPr>
            </a:pPr>
            <a:r>
              <a:t>基于 Microsoft Azure 的具身AI机队云边协同安全编排框架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474720"/>
            <a:ext cx="2743200" cy="36576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0E3C2"/>
                </a:solidFill>
                <a:latin typeface="Calibri"/>
              </a:defRPr>
            </a:pPr>
            <a:r>
              <a:t>中期答辩汇报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A9A"/>
                </a:solidFill>
                <a:latin typeface="Calibri"/>
              </a:defRPr>
            </a:pPr>
            <a:r>
              <a:t>答辩人：刘圣伟    导师：XXX    日期：2026.07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研究方向演进：从企业编排到具身AI安全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Calibri"/>
              </a:defRPr>
            </a:pPr>
            <a:r>
              <a:t>最初规划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8A8A9A"/>
                </a:solidFill>
                <a:latin typeface="Calibri"/>
              </a:defRPr>
            </a:pPr>
            <a:r>
              <a:t>YAML驱动的多Agent编排框架</a:t>
            </a:r>
          </a:p>
          <a:p>
            <a:pPr>
              <a:spcAft>
                <a:spcPts val="800"/>
              </a:spcAft>
              <a:defRPr sz="1500">
                <a:solidFill>
                  <a:srgbClr val="8A8A9A"/>
                </a:solidFill>
                <a:latin typeface="Calibri"/>
              </a:defRPr>
            </a:pPr>
            <a:r>
              <a:t>企业级确定性工作流自动化</a:t>
            </a:r>
          </a:p>
          <a:p>
            <a:pPr>
              <a:spcAft>
                <a:spcPts val="800"/>
              </a:spcAft>
              <a:defRPr sz="1500">
                <a:solidFill>
                  <a:srgbClr val="8A8A9A"/>
                </a:solidFill>
                <a:latin typeface="Calibri"/>
              </a:defRPr>
            </a:pPr>
            <a:r>
              <a:t>模块化RAG治理与多租户数据隔离</a:t>
            </a:r>
          </a:p>
          <a:p>
            <a:pPr>
              <a:spcAft>
                <a:spcPts val="800"/>
              </a:spcAft>
              <a:defRPr sz="1500">
                <a:solidFill>
                  <a:srgbClr val="8A8A9A"/>
                </a:solidFill>
                <a:latin typeface="Calibri"/>
              </a:defRPr>
            </a:pPr>
            <a:r>
              <a:t>MCP工具调用安全验证</a:t>
            </a:r>
          </a:p>
          <a:p>
            <a:pPr>
              <a:spcAft>
                <a:spcPts val="800"/>
              </a:spcAft>
              <a:defRPr sz="1500">
                <a:solidFill>
                  <a:srgbClr val="8A8A9A"/>
                </a:solidFill>
                <a:latin typeface="Calibri"/>
              </a:defRPr>
            </a:pPr>
            <a:r>
              <a:t>面向银行/政府合规场景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E3C2"/>
                </a:solidFill>
                <a:latin typeface="Calibri"/>
              </a:defRPr>
            </a:pPr>
            <a:r>
              <a:t>当前实际方向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Kinematic-Token Theorem（核心理论贡献）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云LLM延迟 vs AGV物理制动距离的正式化证明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3-Agent管线 + 物理层Early Circuit-Breaking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WebGPU浏览器边缘推理安全回退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零信任Azure基础设施（Hub-Spoke + Private Endpoint）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3C2"/>
                </a:solidFill>
                <a:latin typeface="Calibri"/>
              </a:defRPr>
            </a:pPr>
            <a:r>
              <a:t>➡ 项目从企业软件治理演进为具身AI物理安全，核心贡献更具原创性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核心问题：云LLM延迟造成物理安全死锁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Kinematic-Token Theorem 形式化表述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698480" cy="1371600"/>
          </a:xfrm>
          <a:prstGeom prst="rect">
            <a:avLst/>
          </a:prstGeom>
          <a:solidFill>
            <a:srgbClr val="3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CCCC"/>
                </a:solidFill>
                <a:latin typeface="Calibri"/>
              </a:defRPr>
            </a:pPr>
            <a:r>
              <a:t>当云LLM往返延迟 L_c 超过AGV在运行速度 v 下的物理制动距离 d_b 时，系统进入不安全状态</a:t>
            </a:r>
          </a:p>
          <a:p>
            <a:pPr>
              <a:spcAft>
                <a:spcPts val="800"/>
              </a:spcAft>
              <a:defRPr sz="1600">
                <a:solidFill>
                  <a:srgbClr val="FFCCCC"/>
                </a:solidFill>
                <a:latin typeface="Calibri"/>
              </a:defRPr>
            </a:pPr>
            <a:r>
              <a:t>形式化：g_s = L_c · v - d_b &gt; 0  →  Safety Deadlock</a:t>
            </a:r>
          </a:p>
          <a:p>
            <a:pPr>
              <a:spcAft>
                <a:spcPts val="800"/>
              </a:spcAft>
              <a:defRPr sz="1600">
                <a:solidFill>
                  <a:srgbClr val="FFCCCC"/>
                </a:solidFill>
                <a:latin typeface="Calibri"/>
              </a:defRPr>
            </a:pPr>
            <a:r>
              <a:t>实测数据：云GPT-4o-mini 往返 ~2600ms，AGV @2.5m/s 制动距离 ~480ms → g_s &gt;&gt;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实际影响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9A"/>
                </a:solidFill>
                <a:latin typeface="Calibri"/>
              </a:defRPr>
            </a:pPr>
            <a:r>
              <a:t>  ┌────────────────────────────────────────────────────────────────┐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B6B"/>
                </a:solidFill>
                <a:latin typeface="Calibri"/>
              </a:defRPr>
            </a:pPr>
            <a:r>
              <a:t>  │  AGV @ 2.5m/s:  收到"刹车"指令时已行驶 6.5 米 → 碰撞        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E3C2"/>
                </a:solidFill>
                <a:latin typeface="Calibri"/>
              </a:defRPr>
            </a:pPr>
            <a:r>
              <a:t>  │  Edge Qwen2.5-0.5B @ WebGPU:  本地推理 15ms → 安全停车      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9A"/>
                </a:solidFill>
                <a:latin typeface="Calibri"/>
              </a:defRPr>
            </a:pPr>
            <a:r>
              <a:t>  └────────────────────────────────────────────────────────────────┘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A9A"/>
                </a:solidFill>
                <a:latin typeface="Calibri"/>
              </a:defRPr>
            </a:pPr>
            <a:r>
              <a:t>核心洞察：多Agent编排最初面向企业软件，但其Early Circuit-Breaking模式天然适用于机器人安全控制</a:t>
            </a:r>
            <a:br/>
            <a:r>
              <a:t>→ 研究方向的演进不是偏离，而是对同一技术栈的更优应用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Kinematic-Token Theorem 形式化定义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286000"/>
          </a:xfrm>
          <a:prstGeom prst="rect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E3C2"/>
                </a:solidFill>
                <a:latin typeface="Calibri"/>
              </a:defRPr>
            </a:pPr>
            <a:r>
              <a:t>定理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设 L_c 为云LLM推理的端到端往返延迟，v 为AGV当前运行速度，μ 为摩擦系数，g 为重力加速度。</a:t>
            </a:r>
            <a:br/>
            <a:br/>
            <a:r>
              <a:t>则存在临界速度 v_c = μ·g·(L_c / 2)，当 v &gt; v_c 时，云LLM下达的制动指令到达时</a:t>
            </a:r>
            <a:br/>
            <a:r>
              <a:t>AGV已超过物理制动距离，系统处于安全死锁状态。</a:t>
            </a:r>
            <a:br/>
            <a:br/>
            <a:r>
              <a:t>推论：若边缘推理延迟 L_e 满足 L_e &lt;&lt; 2v/(μ·g)，则边缘可消除安全死锁。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256032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3C2"/>
                </a:solidFill>
                <a:latin typeface="Calibri"/>
              </a:defRPr>
            </a:pPr>
            <a:r>
              <a:t>☁️ 云推理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L_c ≈ 2,600ms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9A"/>
                </a:solidFill>
                <a:latin typeface="Calibri"/>
              </a:defRPr>
            </a:pPr>
            <a:r>
              <a:t>GPT-4o-mini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3657600"/>
            <a:ext cx="256032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3C2"/>
                </a:solidFill>
                <a:latin typeface="Calibri"/>
              </a:defRPr>
            </a:pPr>
            <a:r>
              <a:t>🖥️ 边缘推理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4114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L_e ≈ 15ms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480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9A"/>
                </a:solidFill>
                <a:latin typeface="Calibri"/>
              </a:defRPr>
            </a:pPr>
            <a:r>
              <a:t>Qwen2.5-0.5B WebGPU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657600"/>
            <a:ext cx="256032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3C2"/>
                </a:solidFill>
                <a:latin typeface="Calibri"/>
              </a:defRPr>
            </a:pPr>
            <a:r>
              <a:t>🔬 临界速度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114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v_c ≈ 0.5 m/s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80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9A"/>
                </a:solidFill>
                <a:latin typeface="Calibri"/>
              </a:defRPr>
            </a:pPr>
            <a:r>
              <a:t>云模式下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3657600"/>
            <a:ext cx="256032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3C2"/>
                </a:solidFill>
                <a:latin typeface="Calibri"/>
              </a:defRPr>
            </a:pPr>
            <a:r>
              <a:t>✅ 安全速度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114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v_max ≈ 5.0 m/s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480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9A"/>
                </a:solidFill>
                <a:latin typeface="Calibri"/>
              </a:defRPr>
            </a:pPr>
            <a:r>
              <a:t>边缘回退模式下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3C2"/>
                </a:solidFill>
                <a:latin typeface="Calibri"/>
              </a:defRPr>
            </a:pPr>
            <a:r>
              <a:t>➡ 该定理将AI安全从"输出对齐"扩展到"时间维度对齐"——延迟与正确性同等重要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系统架构：三层云边协同安全编排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560320" cy="155448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E3C2"/>
                </a:solidFill>
                <a:latin typeface="Calibri"/>
              </a:defRPr>
            </a:pPr>
            <a:r>
              <a:t>🖥️  EDGE  边缘推理层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188720"/>
            <a:ext cx="7955279" cy="155448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32588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Next.js + WebGPU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Qwen2.5-0.5B / MiniLM-L6-v2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本地推理 &lt; 15ms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语义路由 + 安全回退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2560320" cy="155448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Calibri"/>
              </a:defRPr>
            </a:pPr>
            <a:r>
              <a:t>☁️  CLOUD 云端编排层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3017520"/>
            <a:ext cx="7955279" cy="155448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315468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3-Agent Pipeline (Router→Safety→Compiler)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Early Circuit-Breaking 物理门控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Scenario Registry (JSON) 多租户配置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Azure OpenAI GPT-4o-mini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2560320" cy="155448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🌐  INFRA 零信任基础设施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4846320"/>
            <a:ext cx="7955279" cy="155448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498348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Hub-Spoke VNet + 4x Private Endpoints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Managed Identity + Key Vault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Cosmos DB 状态持久化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Azure IoT Hub 遥测 + C2D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3C2"/>
                </a:solidFill>
                <a:latin typeface="Calibri"/>
              </a:defRPr>
            </a:pPr>
            <a:r>
              <a:t>核心设计：物理层门控（Early Circuit-Breaking）在LLM推理前拦截危险状态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3-Agent 管线与 Early Circuit-Breaking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0E3C2"/>
                </a:solidFill>
                <a:latin typeface="Calibri"/>
              </a:defRPr>
            </a:pPr>
            <a:r>
              <a:t>IoT遥测数据 → 物理层短路 → Router → Safety → Compiler → C2D电机指令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2651760" cy="256032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65176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Calibri"/>
              </a:defRPr>
            </a:pPr>
            <a:r>
              <a:t>TCP</a:t>
            </a:r>
            <a:br/>
            <a:r>
              <a:t>Physical</a:t>
            </a:r>
            <a:br/>
            <a:r>
              <a:t>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HP ≤ 0 → offline_lock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Battery &lt; 5% → emergency_halt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直接跳过所有Agent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554480"/>
            <a:ext cx="2651760" cy="256032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554480"/>
            <a:ext cx="265176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Calibri"/>
              </a:defRPr>
            </a:pPr>
            <a:r>
              <a:t>Agent 1</a:t>
            </a:r>
            <a:br/>
            <a:r>
              <a:t>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774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意图分类（≤20 tokens）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CRITICAL_OBSTACLE | NORMAL_NAV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| SENSOR_ERROR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SENSOR_ERROR → 停止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2651760" cy="256032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265176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Calibri"/>
              </a:defRPr>
            </a:pPr>
            <a:r>
              <a:t>Agent 2</a:t>
            </a:r>
            <a:br/>
            <a:r>
              <a:t>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合规与碰撞风险评估（≤50 tokens）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BLOCK → safety_override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跳过Compiler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554480"/>
            <a:ext cx="2651760" cy="256032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554480"/>
            <a:ext cx="2651760" cy="45720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E3C2"/>
                </a:solidFill>
                <a:latin typeface="Calibri"/>
              </a:defRPr>
            </a:pPr>
            <a:r>
              <a:t>Agent 3</a:t>
            </a:r>
            <a:br/>
            <a:r>
              <a:t>Compiler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3774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动作编译（≤100 tokens）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输出JSON motor指令序列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→ IoT Hub C2D下发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效果指标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46320"/>
            <a:ext cx="201168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937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0E3C2"/>
                </a:solidFill>
                <a:latin typeface="Calibri"/>
              </a:defRPr>
            </a:pPr>
            <a:r>
              <a:t>96%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A9A"/>
                </a:solidFill>
                <a:latin typeface="Calibri"/>
              </a:defRPr>
            </a:pPr>
            <a:r>
              <a:t>Router分类准确率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4846320"/>
            <a:ext cx="201168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4937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0E3C2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A9A"/>
                </a:solidFill>
                <a:latin typeface="Calibri"/>
              </a:defRPr>
            </a:pPr>
            <a:r>
              <a:t>危险场景拦截率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4846320"/>
            <a:ext cx="201168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937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0E3C2"/>
                </a:solidFill>
                <a:latin typeface="Calibri"/>
              </a:defRPr>
            </a:pPr>
            <a:r>
              <a:t>18%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A9A"/>
                </a:solidFill>
                <a:latin typeface="Calibri"/>
              </a:defRPr>
            </a:pPr>
            <a:r>
              <a:t>遥测事件触发短路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4846320"/>
            <a:ext cx="201168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4937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0E3C2"/>
                </a:solidFill>
                <a:latin typeface="Calibri"/>
              </a:defRPr>
            </a:pPr>
            <a:r>
              <a:t>-2,400ms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A9A"/>
                </a:solidFill>
                <a:latin typeface="Calibri"/>
              </a:defRPr>
            </a:pPr>
            <a:r>
              <a:t>每次短路节省延迟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4846320"/>
            <a:ext cx="2011680" cy="13716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4937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0E3C2"/>
                </a:solidFill>
                <a:latin typeface="Calibri"/>
              </a:defRPr>
            </a:pPr>
            <a:r>
              <a:t>&lt;200ms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A9A"/>
                </a:solidFill>
                <a:latin typeface="Calibri"/>
              </a:defRPr>
            </a:pPr>
            <a:r>
              <a:t>端到端决策延迟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零信任基础设施：Hub-Spoke 网络隔离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网络架构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Hub VNet + 2x Spoke VNets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4x Azure Private Endpoints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OpenAI → Private Endpoint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Cosmos DB → Private Endpoint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Key Vault → Private Endpoint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Storage → Private Endpoint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NSG 双向流量微隔离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所有后端资源 external: false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身份安全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User-assigned Managed Identity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无硬编码连接字符串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RBAC 最小权限原则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Key Vault 密钥轮转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IoT Hub C2D: HMAC-SHA256签名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IaC: Azure Bicep 全声明式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3层模块化: main → nested → compute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WebGPU 浏览器边缘推理：安全回退层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Cloud-Only（不安全）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CCCC"/>
                </a:solidFill>
                <a:latin typeface="Calibri"/>
              </a:defRPr>
            </a:pPr>
            <a:r>
              <a:t>GPT-4o-mini 云推理往返: 2,600ms</a:t>
            </a:r>
          </a:p>
          <a:p>
            <a:pPr>
              <a:spcAft>
                <a:spcPts val="800"/>
              </a:spcAft>
              <a:defRPr sz="1500">
                <a:solidFill>
                  <a:srgbClr val="FFCCCC"/>
                </a:solidFill>
                <a:latin typeface="Calibri"/>
              </a:defRPr>
            </a:pPr>
            <a:r>
              <a:t>AGV @2.5m/s 制动距离: 480ms</a:t>
            </a:r>
          </a:p>
          <a:p>
            <a:pPr>
              <a:spcAft>
                <a:spcPts val="800"/>
              </a:spcAft>
              <a:defRPr sz="1500">
                <a:solidFill>
                  <a:srgbClr val="FFCCCC"/>
                </a:solidFill>
                <a:latin typeface="Calibri"/>
              </a:defRPr>
            </a:pPr>
            <a:r>
              <a:t>→ 碰撞前行驶 6.5m</a:t>
            </a:r>
          </a:p>
          <a:p>
            <a:pPr>
              <a:spcAft>
                <a:spcPts val="800"/>
              </a:spcAft>
              <a:defRPr sz="1500">
                <a:solidFill>
                  <a:srgbClr val="FFCCCC"/>
                </a:solidFill>
                <a:latin typeface="Calibri"/>
              </a:defRPr>
            </a:pPr>
            <a:r>
              <a:t>安全死锁不可消除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029200" cy="2286000"/>
          </a:xfrm>
          <a:prstGeom prst="rect">
            <a:avLst/>
          </a:prstGeom>
          <a:solidFill>
            <a:srgbClr val="2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Cloud + Edge Fallback（安全）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Qwen2.5-0.5B WebGPU 本地推理: &lt;15ms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MiniLM-L6-v2 语义路由: &lt;5ms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→ 制动距离内安全停车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零服务器成本，浏览器内运行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技术栈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2651760" cy="18288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E3C2"/>
                </a:solidFill>
                <a:latin typeface="Calibri"/>
              </a:defRPr>
            </a:pPr>
            <a:r>
              <a:t>🤗 Transformers.js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MiniLM-L6-v2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文档嵌入 + 语义路由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@huggingface/transformers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297680"/>
            <a:ext cx="2651760" cy="18288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E3C2"/>
                </a:solidFill>
                <a:latin typeface="Calibri"/>
              </a:defRPr>
            </a:pPr>
            <a:r>
              <a:t>⚡ WebLLM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Qwen2.5-0.5B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量化模型浏览器推理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@mlc-ai/web-llm + WebGPU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297680"/>
            <a:ext cx="2651760" cy="18288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E3C2"/>
                </a:solidFill>
                <a:latin typeface="Calibri"/>
              </a:defRPr>
            </a:pPr>
            <a:r>
              <a:t>🔀 语义路由器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余弦相似度匹配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阈值 ≥ 0.72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Edge ↔ Cloud 切换决策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4297680"/>
            <a:ext cx="2651760" cy="18288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E3C2"/>
                </a:solidFill>
                <a:latin typeface="Calibri"/>
              </a:defRPr>
            </a:pPr>
            <a:r>
              <a:t>📊 Next.js 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App Router + Zustand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Tailwind CSS + React Flow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实时动画 rAF 循环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实现进度：当前已完成模块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5943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3-Agent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234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Router → Safety → Compiler，含Early Circuit-Breaking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2801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0E3C2"/>
                </a:solidFill>
                <a:latin typeface="Calibri"/>
              </a:defRPr>
            </a:pPr>
            <a:r>
              <a:t>完成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10698480" cy="5943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WebGPU Edge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65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Qwen2.5-0.5B @ 15ms + MiniLM语义路由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0E3C2"/>
                </a:solidFill>
                <a:latin typeface="Calibri"/>
              </a:defRPr>
            </a:pPr>
            <a:r>
              <a:t>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10698480" cy="5943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HITL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697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3-AGV模拟 / 定理沙盒 / 云边对比 / 实时面板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743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0E3C2"/>
                </a:solidFill>
                <a:latin typeface="Calibri"/>
              </a:defRPr>
            </a:pPr>
            <a:r>
              <a:t>完成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83280"/>
            <a:ext cx="10698480" cy="5943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零信任Azure IaC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429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Bicep 3层模块化 + Hub-Spoke + PE + 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474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0E3C2"/>
                </a:solidFill>
                <a:latin typeface="Calibri"/>
              </a:defRPr>
            </a:pPr>
            <a:r>
              <a:t>完成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10698480" cy="5943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IoT Hub集成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1605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EventHub遥测入口 + C2D命令下发 + 设备模拟器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206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0E3C2"/>
                </a:solidFill>
                <a:latin typeface="Calibri"/>
              </a:defRPr>
            </a:pPr>
            <a:r>
              <a:t>完成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846320"/>
            <a:ext cx="10698480" cy="5943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37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物理硬件验证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892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真实AGV对接（ROS 2 / 物理制动测试）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9377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libri"/>
              </a:defRPr>
            </a:pPr>
            <a:r>
              <a:t>进行中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577840"/>
            <a:ext cx="10698480" cy="59436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669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论文撰写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623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Kinematic-Token Theorem 形式化 + 实验数据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56692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libri"/>
              </a:defRPr>
            </a:pPr>
            <a:r>
              <a:t>进行中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演示指南：启动步骤与展示路线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启动命令（两个终端）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# 终端 1: 启动后端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make start-backend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# → Azure Functions @ port 7071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# 终端 2: 启动前端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make start-frontend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# → Next.js @ localhost:3000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前置条件：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Azure Functions Core Tools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Node.js 18+ / Python 3.11+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local.settings.json（含凭证）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演示路线（15分钟）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1. 首页 → 项目背景介绍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(/)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3-AGV 车队模拟 → 多机协作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(/dashboard)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Kinematic-Token 定理沙盒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→ 云延迟 vs 制动距离证明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(/dashboard/theorem)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4. 云 vs 边缘对比 → 安全差距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(/dashboard/compare)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5. 实时编排面板 → Agent管线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+ 危险注入演示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(/dashboard/live，需后端)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初步评估结果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E3C2"/>
                </a:solidFill>
                <a:latin typeface="Calibri"/>
              </a:defRPr>
            </a:pPr>
            <a:r>
              <a:t>Metric 1: 端到端决策延迟 (Kinematic Gap Test)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Cloud-Only: 2,600ms → 超出AGV @2.5m/s 制动距离 (480ms) → 碰撞不可避免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Edge Fallback (Qwen2.5-0.5B WebGPU): &lt;15ms → 制动距离内安全停车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Governed Pipeline (Early CB + Edge): &lt;200ms → 完全消除安全死锁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E3C2"/>
                </a:solidFill>
                <a:latin typeface="Calibri"/>
              </a:defRPr>
            </a:pPr>
            <a:r>
              <a:t>Metric 2: Multi-Agent Pipeline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Router Agent 分类准确率: 96% | Safety Agent 危险拦截率: 100%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Early Circuit-Breaker 在 18% 遥测事件中触发短路，平均节省 2,400ms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Compiler Agent 100% 输出符合 JSON Schema 的有效指令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E3C2"/>
                </a:solidFill>
                <a:latin typeface="Calibri"/>
              </a:defRPr>
            </a:pPr>
            <a:r>
              <a:t>Metric 3-4: 审计追溯 &amp; 零信任隔离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100% Agent决策持久化到Cosmos DB + Azure Monitor 实时遥测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Private Endpoint 阻止 100% 非VNet流量 | C2D HMAC签名拒绝 100% 篡改消息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E3C2"/>
                </a:solidFill>
                <a:latin typeface="Calibri"/>
              </a:defRPr>
            </a:pPr>
            <a:r>
              <a:t>➡ 关键结论：延迟从 2,600ms 降至 &lt;200ms，消除 Kinematic Gap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项目时间线与未来计划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3200400" cy="3200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3200400" cy="45720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Phase I</a:t>
            </a:r>
            <a:br/>
            <a:r>
              <a:t>(已完成)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3-Agent Pipeline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WebGPU Edge LLM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IaC零信任基础设施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HITL Dashboard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IoT模拟器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188720"/>
            <a:ext cx="3200400" cy="3200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320040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Calibri"/>
              </a:defRPr>
            </a:pPr>
            <a:r>
              <a:t>Phase II</a:t>
            </a:r>
            <a:br/>
            <a:r>
              <a:t>(当前)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0312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Kinematic-Token定理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论文撰写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实验结果收集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中期答辩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88720"/>
            <a:ext cx="3200400" cy="3200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188720"/>
            <a:ext cx="32004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Phase III</a:t>
            </a:r>
            <a:br/>
            <a:r>
              <a:t>(未来)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0312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真实AGV硬件对接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ROS 2 集成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多模型边缘推理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自适应管线编排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C2"/>
                </a:solidFill>
                <a:latin typeface="Calibri"/>
              </a:defRPr>
            </a:pPr>
            <a:r>
              <a:t>论文进度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已完成: Ch1 Introduction, Ch4 Implementation, Ch5 Evaluation (初步数据)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进行中: Ch2 Literature Review (重新聚焦具身AI安全), Ch3 Architecture (重写)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待完成: Ch6 Conclusion, 参考文献替换 (约40篇), 格式校对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目标: 8月底前完成初稿，9月提交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核心贡献总结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" cy="1097280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0E3C2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Kinematic-Token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91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形式化证明云LLM延迟与AGV制动距离的安全死锁关系，将AI安全从输出对齐扩展到时间维度对齐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54864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8D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3-Agent Early Circuit-Breaking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71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首个将Early Circuit-Breaking模式应用于LLM机器人控制的架构，延迟从2,600ms降至&lt;200ms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10698480" cy="109728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54864" cy="1097280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404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0E3C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8404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WebGPU Edge Safety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251959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首次验证消费级浏览器WebGPU可承载安全关键型LLM推理（&lt;15ms），消除云延迟死锁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029199"/>
            <a:ext cx="10698480" cy="109728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029199"/>
            <a:ext cx="54864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12063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8D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1206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零信任IoT-AI参考架构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532119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Hub-Spoke + Private Endpoint + Managed Identity 的完整参考实现，可复用于多租户具身AI部署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E3C2"/>
                </a:solidFill>
                <a:latin typeface="Calibri"/>
              </a:defRPr>
            </a:pPr>
            <a:r>
              <a:t>➡ 项目从企业编排演进为具身AI安全，核心贡献更具原创性和学术价值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6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  <a:br/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114800"/>
            <a:ext cx="1216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A9A"/>
                </a:solidFill>
                <a:latin typeface="Calibri"/>
              </a:defRPr>
            </a:pPr>
            <a:r>
              <a:t>刘圣伟 · liushengwei@example.com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46320"/>
            <a:ext cx="1216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78D4"/>
                </a:solidFill>
                <a:latin typeface="Calibri"/>
              </a:defRPr>
            </a:pPr>
            <a:r>
              <a:t>代码: https://github.com/liushengwei/Project-OmniGuard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