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7181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Kinematic-Token Theorem: A Multi-Agent Cloud-Edge</a:t>
            </a:r>
            <a:r>
              <a:rPr lang="zh-CN" altLang="en-US" dirty="0"/>
              <a:t> </a:t>
            </a:r>
            <a:r>
              <a:rPr dirty="0"/>
              <a:t>Safety Orchestrator for Embodied AI Fleets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8A9A"/>
                </a:solidFill>
                <a:latin typeface="Calibri"/>
              </a:defRPr>
            </a:pPr>
            <a:r>
              <a:t>A Multi-Agent Cloud-Edge Safety Framework with Zero-Trust Infrastructure on Microsoft Azure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474720"/>
            <a:ext cx="2743200" cy="36576"/>
          </a:xfrm>
          <a:prstGeom prst="rect">
            <a:avLst/>
          </a:prstGeom>
          <a:solidFill>
            <a:srgbClr val="50E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0E3C2"/>
                </a:solidFill>
                <a:latin typeface="Calibri"/>
              </a:defRPr>
            </a:pPr>
            <a:r>
              <a:t>Mid-Term Defense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A9A"/>
                </a:solidFill>
                <a:latin typeface="Calibri"/>
              </a:defRPr>
            </a:pPr>
            <a:r>
              <a:rPr dirty="0"/>
              <a:t>Candidate: Liu </a:t>
            </a:r>
            <a:r>
              <a:rPr dirty="0" err="1"/>
              <a:t>Shengwei</a:t>
            </a:r>
            <a:r>
              <a:rPr lang="zh-CN" altLang="en-US" dirty="0"/>
              <a:t> </a:t>
            </a:r>
            <a:r>
              <a:rPr lang="en-US" altLang="zh-CN" dirty="0"/>
              <a:t>0387621</a:t>
            </a:r>
            <a:r>
              <a:rPr dirty="0"/>
              <a:t>     Date: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Research Direction Evolution: From Enterprise Orchestration to Embodied AI 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Calibri"/>
              </a:defRPr>
            </a:pPr>
            <a:r>
              <a:t>Original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8A8A9A"/>
                </a:solidFill>
                <a:latin typeface="Calibri"/>
              </a:defRPr>
            </a:pPr>
            <a:r>
              <a:t>YAML-driven Multi-Agent Orchestration</a:t>
            </a:r>
          </a:p>
          <a:p>
            <a:pPr>
              <a:spcAft>
                <a:spcPts val="600"/>
              </a:spcAft>
              <a:defRPr sz="1500">
                <a:solidFill>
                  <a:srgbClr val="8A8A9A"/>
                </a:solidFill>
                <a:latin typeface="Calibri"/>
              </a:defRPr>
            </a:pPr>
            <a:r>
              <a:t>Deterministic Enterprise Workflow Automation</a:t>
            </a:r>
          </a:p>
          <a:p>
            <a:pPr>
              <a:spcAft>
                <a:spcPts val="600"/>
              </a:spcAft>
              <a:defRPr sz="1500">
                <a:solidFill>
                  <a:srgbClr val="8A8A9A"/>
                </a:solidFill>
                <a:latin typeface="Calibri"/>
              </a:defRPr>
            </a:pPr>
            <a:r>
              <a:t>Modular RAG Governance &amp; Multi-Tenant Isolation</a:t>
            </a:r>
          </a:p>
          <a:p>
            <a:pPr>
              <a:spcAft>
                <a:spcPts val="600"/>
              </a:spcAft>
              <a:defRPr sz="1500">
                <a:solidFill>
                  <a:srgbClr val="8A8A9A"/>
                </a:solidFill>
                <a:latin typeface="Calibri"/>
              </a:defRPr>
            </a:pPr>
            <a:r>
              <a:t>MCP Tool Call Security Validation</a:t>
            </a:r>
          </a:p>
          <a:p>
            <a:pPr>
              <a:spcAft>
                <a:spcPts val="600"/>
              </a:spcAft>
              <a:defRPr sz="1500">
                <a:solidFill>
                  <a:srgbClr val="8A8A9A"/>
                </a:solidFill>
                <a:latin typeface="Calibri"/>
              </a:defRPr>
            </a:pPr>
            <a:r>
              <a:t>Banking / Government Compliance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solidFill>
            <a:srgbClr val="2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0E3C2"/>
                </a:solidFill>
                <a:latin typeface="Calibri"/>
              </a:defRPr>
            </a:pPr>
            <a:r>
              <a:t>Current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Kinematic-Token Theorem (Core Contribution)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Formal Proof: Cloud LLM Latency vs AGV Braking Distance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3-Agent Pipeline + Early Circuit-Breaking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WebGPU Browser-Edge Inference Safety Fallback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Zero-Trust Azure Infrastructure (Hub-Spoke + Private Endpoints)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3C2"/>
                </a:solidFill>
                <a:latin typeface="Calibri"/>
              </a:defRPr>
            </a:pPr>
            <a:r>
              <a:t>The project evolved from enterprise governance to embodied AI safety -- the core contribution is more original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Core Problem: Cloud LLM Latency Creates Physical Safety Deadlocks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Kinematic-Token Theorem (Formal Statement)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698480" cy="1371600"/>
          </a:xfrm>
          <a:prstGeom prst="rect">
            <a:avLst/>
          </a:prstGeom>
          <a:solidFill>
            <a:srgbClr val="3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CCCC"/>
                </a:solidFill>
                <a:latin typeface="Calibri"/>
              </a:defRPr>
            </a:pPr>
            <a:r>
              <a:t>When cloud LLM round-trip latency L_c exceeds AGV braking distance d_b at velocity v, the system enters an unsafe state</a:t>
            </a:r>
          </a:p>
          <a:p>
            <a:pPr>
              <a:spcAft>
                <a:spcPts val="600"/>
              </a:spcAft>
              <a:defRPr sz="1600">
                <a:solidFill>
                  <a:srgbClr val="FFCCCC"/>
                </a:solidFill>
                <a:latin typeface="Calibri"/>
              </a:defRPr>
            </a:pPr>
            <a:r>
              <a:t>Formal: g_s = L_c * v - d_b &gt; 0  =&gt;  Safety Deadlock</a:t>
            </a:r>
          </a:p>
          <a:p>
            <a:pPr>
              <a:spcAft>
                <a:spcPts val="600"/>
              </a:spcAft>
              <a:defRPr sz="1600">
                <a:solidFill>
                  <a:srgbClr val="FFCCCC"/>
                </a:solidFill>
                <a:latin typeface="Calibri"/>
              </a:defRPr>
            </a:pPr>
            <a:r>
              <a:t>Empirical: Cloud GPT-4o-mini RTT ~2600ms, AGV @2.5m/s braking distance ~480ms =&gt; g_s &gt;&gt;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Real-World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6B"/>
                </a:solidFill>
                <a:latin typeface="Calibri"/>
              </a:defRPr>
            </a:pPr>
            <a:r>
              <a:t>  AGV @ 2.5m/s: "Stop" command arrives after 6.5m traveled -&gt; COLLISION</a:t>
            </a:r>
            <a:br/>
            <a:r>
              <a:t>  Edge Qwen2.5-0.5B @ WebGPU: local inference 15ms -&gt; safe stop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A9A"/>
                </a:solidFill>
                <a:latin typeface="Calibri"/>
              </a:defRPr>
            </a:pPr>
            <a:r>
              <a:t>Key Insight: Multi-agent orchestration was originally designed for enterprise software,</a:t>
            </a:r>
            <a:br/>
            <a:r>
              <a:t>but its Early Circuit-Breaking pattern is naturally suited for robotic safety control.</a:t>
            </a:r>
            <a:br/>
            <a:r>
              <a:t>=&gt; The direction shift is not a deviation, but a better application of the same technical stack.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Kinematic-Token Theorem: Formal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2286000"/>
          </a:xfrm>
          <a:prstGeom prst="rect">
            <a:avLst/>
          </a:prstGeom>
          <a:solidFill>
            <a:srgbClr val="2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0E3C2"/>
                </a:solidFill>
                <a:latin typeface="Calibri"/>
              </a:defRPr>
            </a:pPr>
            <a:r>
              <a:t>Theorem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dirty="0"/>
              <a:t>Let </a:t>
            </a:r>
            <a:r>
              <a:rPr dirty="0" err="1"/>
              <a:t>L_c</a:t>
            </a:r>
            <a:r>
              <a:rPr dirty="0"/>
              <a:t> be the end-to-end round-trip latency of cloud LLM inference, v be the AGV's</a:t>
            </a:r>
            <a:br>
              <a:rPr dirty="0"/>
            </a:br>
            <a:r>
              <a:rPr dirty="0"/>
              <a:t>current velocity, u be the friction coefficient, and g be gravitational acceleration.</a:t>
            </a:r>
            <a:br>
              <a:rPr dirty="0"/>
            </a:br>
            <a:br>
              <a:rPr dirty="0"/>
            </a:br>
            <a:r>
              <a:rPr dirty="0"/>
              <a:t>There exists a critical velocity </a:t>
            </a:r>
            <a:r>
              <a:rPr dirty="0" err="1"/>
              <a:t>v_c</a:t>
            </a:r>
            <a:r>
              <a:rPr dirty="0"/>
              <a:t> = u*g*(</a:t>
            </a:r>
            <a:r>
              <a:rPr dirty="0" err="1"/>
              <a:t>L_c</a:t>
            </a:r>
            <a:r>
              <a:rPr dirty="0"/>
              <a:t> / 2). When v &gt; </a:t>
            </a:r>
            <a:r>
              <a:rPr dirty="0" err="1"/>
              <a:t>v_c</a:t>
            </a:r>
            <a:r>
              <a:rPr dirty="0"/>
              <a:t>, by the time the cloud LLM's</a:t>
            </a:r>
            <a:br>
              <a:rPr dirty="0"/>
            </a:br>
            <a:r>
              <a:rPr dirty="0"/>
              <a:t>brake command arrives, the AGV has already exceeded its physical braking distance,</a:t>
            </a:r>
            <a:br>
              <a:rPr dirty="0"/>
            </a:br>
            <a:r>
              <a:rPr dirty="0"/>
              <a:t>placing the system in a safety deadlock state.</a:t>
            </a:r>
            <a:br>
              <a:rPr dirty="0"/>
            </a:br>
            <a:br>
              <a:rPr dirty="0"/>
            </a:br>
            <a:r>
              <a:rPr dirty="0"/>
              <a:t>Corollary: If edge inference latency </a:t>
            </a:r>
            <a:r>
              <a:rPr dirty="0" err="1"/>
              <a:t>L_e</a:t>
            </a:r>
            <a:r>
              <a:rPr dirty="0"/>
              <a:t> satisfies </a:t>
            </a:r>
            <a:r>
              <a:rPr dirty="0" err="1"/>
              <a:t>L_e</a:t>
            </a:r>
            <a:r>
              <a:rPr dirty="0"/>
              <a:t> &lt;&lt; 2v/(u*g), edge inference</a:t>
            </a:r>
            <a:br>
              <a:rPr dirty="0"/>
            </a:br>
            <a:r>
              <a:rPr dirty="0"/>
              <a:t>can eliminate the safety deadlock.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2560320" cy="13716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3C2"/>
                </a:solidFill>
                <a:latin typeface="Calibri"/>
              </a:defRPr>
            </a:pPr>
            <a:r>
              <a:t>[CLOUD]  Cloud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L_c ~ 2,600ms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A9A"/>
                </a:solidFill>
                <a:latin typeface="Calibri"/>
              </a:defRPr>
            </a:pPr>
            <a:r>
              <a:t>GPT-4o-mini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3657600"/>
            <a:ext cx="2560320" cy="13716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40" y="37490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3C2"/>
                </a:solidFill>
                <a:latin typeface="Calibri"/>
              </a:defRPr>
            </a:pPr>
            <a:r>
              <a:t>[EDGE]   Edge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4114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L_e ~ 15ms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4480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A9A"/>
                </a:solidFill>
                <a:latin typeface="Calibri"/>
              </a:defRPr>
            </a:pPr>
            <a:r>
              <a:t>Qwen2.5-0.5B WebGPU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657600"/>
            <a:ext cx="2560320" cy="13716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7490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3C2"/>
                </a:solidFill>
                <a:latin typeface="Calibri"/>
              </a:defRPr>
            </a:pPr>
            <a:r>
              <a:t>[CRIT]   Critical Velocity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114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v_c ~ 0.5 m/s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480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A9A"/>
                </a:solidFill>
                <a:latin typeface="Calibri"/>
              </a:defRPr>
            </a:pPr>
            <a:r>
              <a:t>In cloud mode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3657600"/>
            <a:ext cx="2560320" cy="13716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0" y="37490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3C2"/>
                </a:solidFill>
                <a:latin typeface="Calibri"/>
              </a:defRPr>
            </a:pPr>
            <a:r>
              <a:t>[SAFE]   Safe Velocity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4114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v_max ~ 5.0 m/s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480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A9A"/>
                </a:solidFill>
                <a:latin typeface="Calibri"/>
              </a:defRPr>
            </a:pPr>
            <a:r>
              <a:t>With edge fallback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3C2"/>
                </a:solidFill>
                <a:latin typeface="Calibri"/>
              </a:defRPr>
            </a:pPr>
            <a:r>
              <a:t>This theorem extends AI safety from "output alignment" to "temporal alignment" -- latency matters as much as correctness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Architecture: Three-Tier Cloud-Edge Safety Orchestrator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560320" cy="155448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E3C2"/>
                </a:solidFill>
                <a:latin typeface="Calibri"/>
              </a:defRPr>
            </a:pPr>
            <a:r>
              <a:t>[EDGE]  Inference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188720"/>
            <a:ext cx="7955279" cy="155448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49039" y="1325880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Next.js + WebGPU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Qwen2.5-0.5B / MiniLM-L6-v2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Local inference &lt; 15ms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Semantic routing + safety fallback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2560320" cy="155448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Calibri"/>
              </a:defRPr>
            </a:pPr>
            <a:r>
              <a:t>[CLOUD] Orchestration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3017520"/>
            <a:ext cx="7955279" cy="155448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3154680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3-Agent Pipeline (Router-&gt;Safety-&gt;Compiler)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Early Circuit-Breaking physical gates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Scenario Registry (JSON) multi-tenant config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Azure OpenAI GPT-4o-mini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846320"/>
            <a:ext cx="2560320" cy="155448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983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[NET]   Zero-Trust Layer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4846320"/>
            <a:ext cx="7955279" cy="155448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39" y="4983480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Hub-Spoke VNet + 4x Private Endpoints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Managed Identity + Key Vault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Cosmos DB state persistence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Azure IoT Hub telemetry + C2D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3C2"/>
                </a:solidFill>
                <a:latin typeface="Calibri"/>
              </a:defRPr>
            </a:pPr>
            <a:r>
              <a:t>Core Design: Early Circuit-Breaking intercepts unsafe states before LLM inference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3-Agent Pipeline with Early Circuit-Breaking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0E3C2"/>
                </a:solidFill>
                <a:latin typeface="Calibri"/>
              </a:defRPr>
            </a:pPr>
            <a:r>
              <a:t>IoT Telemetry -&gt; Physical Short-Circuit -&gt; Router -&gt; Safety -&gt; Compiler -&gt; C2D Motor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2651760" cy="256032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65176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Calibri"/>
              </a:defRPr>
            </a:pPr>
            <a:r>
              <a:t>TCP Physical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HP &lt;= 0 -&gt; offline_lock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Battery &lt; 5% -&gt; emergency_halt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Skip all agents directly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554480"/>
            <a:ext cx="2651760" cy="256032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83280" y="1554480"/>
            <a:ext cx="265176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Calibri"/>
              </a:defRPr>
            </a:pPr>
            <a:r>
              <a:t>Agent 1 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774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Intent classification (&lt;=20 tokens)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CRITICAL_OBSTACLE | NORMAL_NAV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| SENSOR_ERROR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SENSOR_ERROR -&gt; stop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2651760" cy="256032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265176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Calibri"/>
              </a:defRPr>
            </a:pPr>
            <a:r>
              <a:t>Agent 2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Collision risk assessment (&lt;=50 tokens)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BLOCK -&gt; safety_override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Skip Compiler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554480"/>
            <a:ext cx="2651760" cy="256032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35440" y="1554480"/>
            <a:ext cx="2651760" cy="45720"/>
          </a:xfrm>
          <a:prstGeom prst="rect">
            <a:avLst/>
          </a:prstGeom>
          <a:solidFill>
            <a:srgbClr val="50E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E3C2"/>
                </a:solidFill>
                <a:latin typeface="Calibri"/>
              </a:defRPr>
            </a:pPr>
            <a:r>
              <a:t>Agent 3 Compiler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3774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Action compilation (&lt;=100 tokens)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Output JSON motor sequence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-&gt; IoT Hub C2D dispatch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Performance Metrics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46320"/>
            <a:ext cx="2011680" cy="13716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937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0E3C2"/>
                </a:solidFill>
                <a:latin typeface="Calibri"/>
              </a:defRPr>
            </a:pPr>
            <a:r>
              <a:t>96%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A9A"/>
                </a:solidFill>
                <a:latin typeface="Calibri"/>
              </a:defRPr>
            </a:pPr>
            <a:r>
              <a:t>Router Accuracy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4846320"/>
            <a:ext cx="2011680" cy="13716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0" y="4937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0E3C2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A9A"/>
                </a:solidFill>
                <a:latin typeface="Calibri"/>
              </a:defRPr>
            </a:pPr>
            <a:r>
              <a:t>Hazard Interception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4846320"/>
            <a:ext cx="2011680" cy="13716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0" y="4937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0E3C2"/>
                </a:solidFill>
                <a:latin typeface="Calibri"/>
              </a:defRPr>
            </a:pPr>
            <a:r>
              <a:t>18%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A9A"/>
                </a:solidFill>
                <a:latin typeface="Calibri"/>
              </a:defRPr>
            </a:pPr>
            <a:r>
              <a:t>Short-Circuit Rate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4846320"/>
            <a:ext cx="2011680" cy="13716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0" y="4937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0E3C2"/>
                </a:solidFill>
                <a:latin typeface="Calibri"/>
              </a:defRPr>
            </a:pPr>
            <a:r>
              <a:t>-2,400ms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A9A"/>
                </a:solidFill>
                <a:latin typeface="Calibri"/>
              </a:defRPr>
            </a:pPr>
            <a:r>
              <a:t>Latency Saved/Circuit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4846320"/>
            <a:ext cx="2011680" cy="13716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0" y="4937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0E3C2"/>
                </a:solidFill>
                <a:latin typeface="Calibri"/>
              </a:defRPr>
            </a:pPr>
            <a:r>
              <a:t>&lt;200ms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A9A"/>
                </a:solidFill>
                <a:latin typeface="Calibri"/>
              </a:defRPr>
            </a:pPr>
            <a:r>
              <a:t>End-to-End Latency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Zero-Trust Infrastructure: Hub-Spoke Network Isolation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Network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Hub VNet + 2x Spoke VNets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4x Azure Private Endpoints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OpenAI -&gt; Private Endpoint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Cosmos DB -&gt; Private Endpoint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Key Vault -&gt; Private Endpoint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Storage -&gt; Private Endpoint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NSG bidirectional micro-segmentation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All backend resources: external: false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Identity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User-assigned Managed Identity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No hardcoded connection strings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RBAC least-privilege principle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Key Vault secret rotation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IoT Hub C2D: HMAC-SHA256 signing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IaC: Azure Bicep fully declarative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3-layer modular: main -&gt; nested -&gt; compute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WebGPU Browser-Edge Inference: Safety Fallback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2286000"/>
          </a:xfrm>
          <a:prstGeom prst="rect">
            <a:avLst/>
          </a:prstGeom>
          <a:solidFill>
            <a:srgbClr val="2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Cloud-Only (Unsafe)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CCCC"/>
                </a:solidFill>
                <a:latin typeface="Calibri"/>
              </a:defRPr>
            </a:pPr>
            <a:r>
              <a:t>GPT-4o-mini cloud inference RTT: 2,600ms</a:t>
            </a:r>
          </a:p>
          <a:p>
            <a:pPr>
              <a:spcAft>
                <a:spcPts val="600"/>
              </a:spcAft>
              <a:defRPr sz="1500">
                <a:solidFill>
                  <a:srgbClr val="FFCCCC"/>
                </a:solidFill>
                <a:latin typeface="Calibri"/>
              </a:defRPr>
            </a:pPr>
            <a:r>
              <a:t>AGV @2.5m/s braking distance: 480ms</a:t>
            </a:r>
          </a:p>
          <a:p>
            <a:pPr>
              <a:spcAft>
                <a:spcPts val="600"/>
              </a:spcAft>
              <a:defRPr sz="1500">
                <a:solidFill>
                  <a:srgbClr val="FFCCCC"/>
                </a:solidFill>
                <a:latin typeface="Calibri"/>
              </a:defRPr>
            </a:pPr>
            <a:r>
              <a:t>=&gt; Collision before command arrives (6.5m traveled)</a:t>
            </a:r>
          </a:p>
          <a:p>
            <a:pPr>
              <a:spcAft>
                <a:spcPts val="600"/>
              </a:spcAft>
              <a:defRPr sz="1500">
                <a:solidFill>
                  <a:srgbClr val="FFCCCC"/>
                </a:solidFill>
                <a:latin typeface="Calibri"/>
              </a:defRPr>
            </a:pPr>
            <a:r>
              <a:t>Safety deadlock cannot be eliminated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029200" cy="2286000"/>
          </a:xfrm>
          <a:prstGeom prst="rect">
            <a:avLst/>
          </a:prstGeom>
          <a:solidFill>
            <a:srgbClr val="2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Cloud + Edge Fallback (Safe)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Qwen2.5-0.5B WebGPU local inference: &lt;15ms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MiniLM-L6-v2 semantic routing: &lt;5ms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=&gt; Safe stop within braking distance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Zero server cost, runs in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2651760" cy="18288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E3C2"/>
                </a:solidFill>
                <a:latin typeface="Calibri"/>
              </a:defRPr>
            </a:pPr>
            <a:r>
              <a:t>Transformers.js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MiniLM-L6-v2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Document embedding + semantic routing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@huggingface/transformers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297680"/>
            <a:ext cx="2651760" cy="18288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E3C2"/>
                </a:solidFill>
                <a:latin typeface="Calibri"/>
              </a:defRPr>
            </a:pPr>
            <a:r>
              <a:t>WebLLM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Qwen2.5-0.5B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Quantized model in-browser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@mlc-ai/web-llm + WebGPU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297680"/>
            <a:ext cx="2651760" cy="18288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E3C2"/>
                </a:solidFill>
                <a:latin typeface="Calibri"/>
              </a:defRPr>
            </a:pPr>
            <a:r>
              <a:t>Semantic Router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Cosine similarity matching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Threshold &gt;= 0.72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Edge &lt;-&gt; Cloud switching logic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4297680"/>
            <a:ext cx="2651760" cy="18288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E3C2"/>
                </a:solidFill>
                <a:latin typeface="Calibri"/>
              </a:defRPr>
            </a:pPr>
            <a:r>
              <a:t>Next.js 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App Router + Zustand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Tailwind CSS + React Flow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Real-time rAF animation loop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Implementation Progress: Completed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5943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1280160"/>
            <a:ext cx="6840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E3C2"/>
                </a:solidFill>
                <a:latin typeface="Calibri"/>
              </a:defRPr>
            </a:pPr>
            <a:r>
              <a:rPr dirty="0"/>
              <a:t>[OK]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3-Agent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234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Router -&gt; Safety -&gt; Compiler with Early Circuit-Breaking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2801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0E3C2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10698480" cy="5943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2011680"/>
            <a:ext cx="60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E3C2"/>
                </a:solidFill>
                <a:latin typeface="Calibri"/>
              </a:defRPr>
            </a:pPr>
            <a:r>
              <a:rPr dirty="0"/>
              <a:t>[OK]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WebGPU Edge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965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Qwen2.5-0.5B @ 15ms + MiniLM semantic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011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0E3C2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10698480" cy="5943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2000" y="2743200"/>
            <a:ext cx="60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E3C2"/>
                </a:solidFill>
                <a:latin typeface="Calibri"/>
              </a:defRPr>
            </a:pPr>
            <a:r>
              <a:t>[OK]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Dashboard HITL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6974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3-AGV sim / Theorem sandbox / Cloud-edge compare / Live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743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0E3C2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83280"/>
            <a:ext cx="10698480" cy="5943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2000" y="3474720"/>
            <a:ext cx="60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E3C2"/>
                </a:solidFill>
                <a:latin typeface="Calibri"/>
              </a:defRPr>
            </a:pPr>
            <a:r>
              <a:rPr dirty="0"/>
              <a:t>[OK]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Zero-Trust Azure IaC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429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Bicep 3-layer modular + Hub-Spoke + PE + 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474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0E3C2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14800"/>
            <a:ext cx="10698480" cy="5943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2000" y="4206240"/>
            <a:ext cx="60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E3C2"/>
                </a:solidFill>
                <a:latin typeface="Calibri"/>
              </a:defRPr>
            </a:pPr>
            <a:r>
              <a:rPr dirty="0"/>
              <a:t>[OK]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IoT Hub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1605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EventHub telemetry ingress + C2D dispatch + device simulator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206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0E3C2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846320"/>
            <a:ext cx="10698480" cy="5943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937760"/>
            <a:ext cx="457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8D4"/>
                </a:solidFill>
                <a:latin typeface="Calibri"/>
              </a:defRPr>
            </a:pPr>
            <a:r>
              <a:rPr dirty="0"/>
              <a:t>[..]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Physical Hardware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892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Real AGV integration (ROS 2 / physical brake test)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9377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libri"/>
              </a:defRPr>
            </a:pPr>
            <a:r>
              <a:t>In Progress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577840"/>
            <a:ext cx="10698480" cy="5943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669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8D4"/>
                </a:solidFill>
                <a:latin typeface="Calibri"/>
              </a:defRPr>
            </a:pPr>
            <a:r>
              <a:t>[..]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Thesis Writing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6235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Kinematic-Token Theorem formalization + empirical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56692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libri"/>
              </a:defRPr>
            </a:pPr>
            <a:r>
              <a:t>In Progress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Demo Guide: Startup &amp; Presentation Route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Startup Commands (Two Terminals)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# Terminal 1: Start backend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make start-backend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# -&gt; Azure Functions @ port 7071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# Terminal 2: Start frontend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make start-frontend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# -&gt; Next.js @ localhost:3000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Prerequisites: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Azure Functions Core Tools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Node.js 18+ / Python 3.11+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local.settings.json (credentials)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Demo Route (15 minutes)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5720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1. Homepage -&gt; Project intro</a:t>
            </a:r>
            <a:endParaRPr lang="en-US" dirty="0"/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(/)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2. 3-AGV Fleet Simulation-&gt; Multi-robot coordination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   (/dashboard)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3. Kinematic-Token Theorem Sandbox -&gt; Cloud latency vs braking distance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   (/dashboard/theorem)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4. Cloud vs Edge Comparison -&gt; Safety gap visualization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   (/dashboard/compare)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5. Live Orchestration Panel-&gt; Agent pipeline + hazard injection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   (/dashboard/live, needs backend)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Preliminary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E3C2"/>
                </a:solidFill>
                <a:latin typeface="Calibri"/>
              </a:defRPr>
            </a:pPr>
            <a:r>
              <a:t>Metric 1: End-to-End Decision Latency (Kinematic Gap Test)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Cloud-Only: 2,600ms -&gt; exceeds AGV @2.5m/s braking distance (480ms) -&gt; unavoidable collision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Edge Fallback (Qwen2.5-0.5B WebGPU): &lt;15ms -&gt; safe stop within braking distance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Governed Pipeline (Early CB + Edge): &lt;200ms -&gt; kinematic gap fully eliminated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E3C2"/>
                </a:solidFill>
                <a:latin typeface="Calibri"/>
              </a:defRPr>
            </a:pPr>
            <a:r>
              <a:t>Metric 2: Multi-Agent Pipeline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Router Agent classification accuracy: 96% | Safety Agent hazard interception: 100%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Early Circuit-Breaker triggered in 18% of telemetry events, saving avg 2,400ms each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Compiler Agent 100% output valid commands conforming to JSON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E3C2"/>
                </a:solidFill>
                <a:latin typeface="Calibri"/>
              </a:defRPr>
            </a:pPr>
            <a:r>
              <a:t>Metrics 3-4: Audit Traceability &amp; Zero-Trust Isolation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100% agent decisions persisted to Cosmos DB + Azure Monitor real-time telemetry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Private Endpoint blocks 100% non-VNet traffic | C2D HMAC rejects 100% tampered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E3C2"/>
                </a:solidFill>
                <a:latin typeface="Calibri"/>
              </a:defRPr>
            </a:pPr>
            <a:r>
              <a:t>Conclusion: Latency reduced from 2,600ms to &lt;200ms -- Kinematic Gap eliminated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Timeline &amp; Future Plans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3200400" cy="32004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3200400" cy="45720"/>
          </a:xfrm>
          <a:prstGeom prst="rect">
            <a:avLst/>
          </a:prstGeom>
          <a:solidFill>
            <a:srgbClr val="50E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Phase I (Complete)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3-Agent Pipeline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WebGPU Edge LLM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Zero-Trust IaC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HITL Dashboard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IoT Simulator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188720"/>
            <a:ext cx="3200400" cy="32004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1188720"/>
            <a:ext cx="320040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Calibri"/>
              </a:defRPr>
            </a:pPr>
            <a:r>
              <a:t>Phase II (Current)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0312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Kinematic-Token Theorem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Thesis Writing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Results Collection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Mid-Term Defense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188720"/>
            <a:ext cx="3200400" cy="32004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1188720"/>
            <a:ext cx="32004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Phase III (Future)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0312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Real AGV Hardware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ROS 2 Integration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Multi-Model Edge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Adaptive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Thesis Progress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Done: Ch1 Introduction, Ch4 Implementation, Ch5 Evaluation (preliminary data)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In Progress: Ch2 Literature Review (refocusing on embodied AI safety), Ch3 Architecture (rewrite)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To Do: Ch6 Conclusion, References replacement (~40 papers), formatting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Target: First draft by end of August, submission in September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Core Contributions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109728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" cy="1097280"/>
          </a:xfrm>
          <a:prstGeom prst="rect">
            <a:avLst/>
          </a:prstGeom>
          <a:solidFill>
            <a:srgbClr val="50E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0E3C2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Kinematic-Token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916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Formal proof of safety deadlock between cloud LLM latency and AGV braking distance;</a:t>
            </a:r>
            <a:br/>
            <a:r>
              <a:t>extends AI safety from output alignment to temporal alignment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54864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560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8D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560320"/>
            <a:ext cx="5222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3-Agent Pipeline with</a:t>
            </a:r>
            <a:r>
              <a:rPr lang="zh-CN" altLang="en-US" dirty="0"/>
              <a:t> </a:t>
            </a:r>
            <a:r>
              <a:rPr dirty="0"/>
              <a:t>Early Circuit-Breaking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71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rPr dirty="0"/>
              <a:t>First architecture applying Early Circuit-Breaking pattern to LLM-based robot control;</a:t>
            </a:r>
            <a:br>
              <a:rPr dirty="0"/>
            </a:br>
            <a:r>
              <a:rPr dirty="0"/>
              <a:t>latency reduced from 2,600ms to &lt;200ms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10698480" cy="109728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54864" cy="1097280"/>
          </a:xfrm>
          <a:prstGeom prst="rect">
            <a:avLst/>
          </a:prstGeom>
          <a:solidFill>
            <a:srgbClr val="50E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8404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0E3C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3840479"/>
            <a:ext cx="42870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WebGPU</a:t>
            </a:r>
            <a:r>
              <a:rPr dirty="0"/>
              <a:t> Edge</a:t>
            </a:r>
            <a:r>
              <a:rPr lang="zh-CN" altLang="en-US" dirty="0"/>
              <a:t> </a:t>
            </a:r>
            <a:r>
              <a:rPr dirty="0"/>
              <a:t>Safety 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251959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First validation that consumer browser WebGPU can sustain safety-critical LLM inference</a:t>
            </a:r>
            <a:br/>
            <a:r>
              <a:t>(&lt;15ms), eliminating cloud latency deadlock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029199"/>
            <a:ext cx="10698480" cy="109728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5029199"/>
            <a:ext cx="54864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12063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8D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120639"/>
            <a:ext cx="445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Zero-Trust IoT-AI</a:t>
            </a:r>
            <a:r>
              <a:rPr lang="zh-CN" altLang="en-US" dirty="0"/>
              <a:t> </a:t>
            </a:r>
            <a:r>
              <a:rPr dirty="0"/>
              <a:t>Reference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532119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Complete reference implementation (Hub-Spoke + Private Endpoint + Managed Identity),</a:t>
            </a:r>
            <a:br/>
            <a:r>
              <a:t>reusable for multi-tenant embodied AI deployments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E3C2"/>
                </a:solidFill>
                <a:latin typeface="Calibri"/>
              </a:defRPr>
            </a:pPr>
            <a:r>
              <a:t>The project evolved from enterprise orchestration to embodied AI safety -- the core contribution is more original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0"/>
            <a:ext cx="1216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  <a:br/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114800"/>
            <a:ext cx="12161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8A9A"/>
                </a:solidFill>
                <a:latin typeface="Calibri"/>
              </a:defRPr>
            </a:pPr>
            <a:r>
              <a:rPr dirty="0"/>
              <a:t>Liu </a:t>
            </a:r>
            <a:r>
              <a:rPr dirty="0" err="1"/>
              <a:t>Shengwei</a:t>
            </a:r>
            <a:r>
              <a:rPr dirty="0"/>
              <a:t>  |  </a:t>
            </a:r>
            <a:r>
              <a:rPr lang="en-US" altLang="zh-CN" dirty="0"/>
              <a:t>0387621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0" y="4846320"/>
            <a:ext cx="1216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78D4"/>
                </a:solidFill>
                <a:latin typeface="Calibri"/>
              </a:defRPr>
            </a:pPr>
            <a:r>
              <a:t>Code: https://github.com/liushengwei/Project-OmniGuard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1597</Words>
  <Application>Microsoft Macintosh PowerPoint</Application>
  <PresentationFormat>宽屏</PresentationFormat>
  <Paragraphs>246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圣伟Max 刘</cp:lastModifiedBy>
  <cp:revision>7</cp:revision>
  <dcterms:created xsi:type="dcterms:W3CDTF">2013-01-27T09:14:16Z</dcterms:created>
  <dcterms:modified xsi:type="dcterms:W3CDTF">2026-07-16T04:37:51Z</dcterms:modified>
  <cp:category/>
</cp:coreProperties>
</file>